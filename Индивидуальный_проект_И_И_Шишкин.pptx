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4"/>
  </p:notesMasterIdLst>
  <p:sldIdLst>
    <p:sldId id="298" r:id="rId2"/>
    <p:sldId id="259" r:id="rId3"/>
    <p:sldId id="303" r:id="rId4"/>
    <p:sldId id="301" r:id="rId5"/>
    <p:sldId id="299" r:id="rId6"/>
    <p:sldId id="257" r:id="rId7"/>
    <p:sldId id="300" r:id="rId8"/>
    <p:sldId id="302" r:id="rId9"/>
    <p:sldId id="307" r:id="rId10"/>
    <p:sldId id="306" r:id="rId11"/>
    <p:sldId id="308" r:id="rId12"/>
    <p:sldId id="309" r:id="rId13"/>
  </p:sldIdLst>
  <p:sldSz cx="9144000" cy="5143500" type="screen16x9"/>
  <p:notesSz cx="6858000" cy="9144000"/>
  <p:embeddedFontLst>
    <p:embeddedFont>
      <p:font typeface="Montserrat" pitchFamily="2" charset="0"/>
      <p:regular r:id="rId15"/>
      <p:bold r:id="rId16"/>
      <p:italic r:id="rId17"/>
      <p:boldItalic r:id="rId18"/>
    </p:embeddedFont>
    <p:embeddedFont>
      <p:font typeface="PT Serif" panose="020A0603040505020204" pitchFamily="18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B2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1F4A9F6-5755-4111-B3BC-015E207AFD08}">
  <a:tblStyle styleId="{01F4A9F6-5755-4111-B3BC-015E207AFD0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font" Target="fonts/font4.fntdata" /><Relationship Id="rId26" Type="http://schemas.openxmlformats.org/officeDocument/2006/relationships/tableStyles" Target="tableStyles.xml" /><Relationship Id="rId3" Type="http://schemas.openxmlformats.org/officeDocument/2006/relationships/slide" Target="slides/slide2.xml" /><Relationship Id="rId21" Type="http://schemas.openxmlformats.org/officeDocument/2006/relationships/font" Target="fonts/font7.fntdata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font" Target="fonts/font3.fntdata" /><Relationship Id="rId25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font" Target="fonts/font2.fntdata" /><Relationship Id="rId20" Type="http://schemas.openxmlformats.org/officeDocument/2006/relationships/font" Target="fonts/font6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font" Target="fonts/font1.fntdata" /><Relationship Id="rId23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openxmlformats.org/officeDocument/2006/relationships/font" Target="fonts/font5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notesMaster" Target="notesMasters/notesMaster1.xml" /><Relationship Id="rId22" Type="http://schemas.openxmlformats.org/officeDocument/2006/relationships/font" Target="fonts/font8.fntdata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84055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8988948c82_0_6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8988948c82_0_6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99966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8988948c82_0_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8988948c82_0_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3766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81724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8988948c82_0_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8988948c82_0_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944856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8988948c82_0_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8988948c82_0_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366394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8988948c82_0_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8988948c82_0_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68291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8988948c82_0_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8988948c82_0_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0896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-5400000">
            <a:off x="2393085" y="-1611750"/>
            <a:ext cx="6229200" cy="7281300"/>
          </a:xfrm>
          <a:prstGeom prst="rtTriangle">
            <a:avLst/>
          </a:prstGeom>
          <a:solidFill>
            <a:srgbClr val="3E4035">
              <a:alpha val="883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" name="Google Shape;10;p2"/>
          <p:cNvCxnSpPr/>
          <p:nvPr/>
        </p:nvCxnSpPr>
        <p:spPr>
          <a:xfrm flipH="1">
            <a:off x="1590865" y="-1085850"/>
            <a:ext cx="7281300" cy="62292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Google Shape;11;p2"/>
          <p:cNvSpPr/>
          <p:nvPr/>
        </p:nvSpPr>
        <p:spPr>
          <a:xfrm rot="5400000">
            <a:off x="28124" y="-39750"/>
            <a:ext cx="1557900" cy="1614000"/>
          </a:xfrm>
          <a:prstGeom prst="rtTriangle">
            <a:avLst/>
          </a:prstGeom>
          <a:solidFill>
            <a:srgbClr val="3E4035">
              <a:alpha val="883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" name="Google Shape;12;p2"/>
          <p:cNvCxnSpPr/>
          <p:nvPr/>
        </p:nvCxnSpPr>
        <p:spPr>
          <a:xfrm rot="10800000" flipH="1">
            <a:off x="10425" y="-11700"/>
            <a:ext cx="1703100" cy="16500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894250" y="4179450"/>
            <a:ext cx="3633600" cy="78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title"/>
          </p:nvPr>
        </p:nvSpPr>
        <p:spPr>
          <a:xfrm>
            <a:off x="4419825" y="2068625"/>
            <a:ext cx="4108200" cy="235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717750" y="362250"/>
            <a:ext cx="7708500" cy="94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617625" y="1044900"/>
            <a:ext cx="7990200" cy="35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623600" y="539500"/>
            <a:ext cx="6367800" cy="40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2_2_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subTitle" idx="1"/>
          </p:nvPr>
        </p:nvSpPr>
        <p:spPr>
          <a:xfrm>
            <a:off x="588900" y="2985925"/>
            <a:ext cx="17154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ctrTitle"/>
          </p:nvPr>
        </p:nvSpPr>
        <p:spPr>
          <a:xfrm>
            <a:off x="588900" y="1600850"/>
            <a:ext cx="1715400" cy="146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title" idx="2"/>
          </p:nvPr>
        </p:nvSpPr>
        <p:spPr>
          <a:xfrm>
            <a:off x="588900" y="369700"/>
            <a:ext cx="8015100" cy="96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subTitle" idx="3"/>
          </p:nvPr>
        </p:nvSpPr>
        <p:spPr>
          <a:xfrm>
            <a:off x="2646300" y="2985925"/>
            <a:ext cx="17154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ctrTitle" idx="4"/>
          </p:nvPr>
        </p:nvSpPr>
        <p:spPr>
          <a:xfrm>
            <a:off x="2646300" y="1658000"/>
            <a:ext cx="1715400" cy="1404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ubTitle" idx="5"/>
          </p:nvPr>
        </p:nvSpPr>
        <p:spPr>
          <a:xfrm>
            <a:off x="4627500" y="2985925"/>
            <a:ext cx="17154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ctrTitle" idx="6"/>
          </p:nvPr>
        </p:nvSpPr>
        <p:spPr>
          <a:xfrm>
            <a:off x="4627500" y="1657925"/>
            <a:ext cx="1715400" cy="1404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subTitle" idx="7"/>
          </p:nvPr>
        </p:nvSpPr>
        <p:spPr>
          <a:xfrm>
            <a:off x="6684900" y="2985925"/>
            <a:ext cx="17154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ctrTitle" idx="8"/>
          </p:nvPr>
        </p:nvSpPr>
        <p:spPr>
          <a:xfrm>
            <a:off x="6684900" y="1600850"/>
            <a:ext cx="1715400" cy="146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one column">
  <p:cSld name="ONE_COLUMN_TEXT_4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>
            <a:spLocks noGrp="1"/>
          </p:cNvSpPr>
          <p:nvPr>
            <p:ph type="subTitle" idx="1"/>
          </p:nvPr>
        </p:nvSpPr>
        <p:spPr>
          <a:xfrm>
            <a:off x="623275" y="1907975"/>
            <a:ext cx="3941700" cy="108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617975" y="745375"/>
            <a:ext cx="3941700" cy="113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Relationship Id="rId9" Type="http://schemas.openxmlformats.org/officeDocument/2006/relationships/image" Target="../media/image1.jpg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9">
            <a:alphaModFix amt="82000"/>
            <a:lum/>
          </a:blip>
          <a:srcRect/>
          <a:stretch>
            <a:fillRect t="-20000" b="-20000"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16500" y="368825"/>
            <a:ext cx="779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PT Serif"/>
              <a:buNone/>
              <a:defRPr sz="2800">
                <a:solidFill>
                  <a:schemeClr val="accent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16500" y="1076275"/>
            <a:ext cx="7795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●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○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●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○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●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○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Montserrat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8" r:id="rId4"/>
    <p:sldLayoutId id="2147483661" r:id="rId5"/>
    <p:sldLayoutId id="2147483664" r:id="rId6"/>
    <p:sldLayoutId id="2147483667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7.xml" /><Relationship Id="rId6" Type="http://schemas.microsoft.com/office/2007/relationships/hdphoto" Target="../media/hdphoto2.wdp" /><Relationship Id="rId5" Type="http://schemas.openxmlformats.org/officeDocument/2006/relationships/image" Target="../media/image4.png" /><Relationship Id="rId4" Type="http://schemas.microsoft.com/office/2007/relationships/hdphoto" Target="../media/hdphoto1.wdp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4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 /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4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 /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4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4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izo-museum.ru/kollektsii/grafika/russkaya-gravyura/albom-60-ofortov-i.i.shishkina-1870-1892.-1894" TargetMode="External" /><Relationship Id="rId3" Type="http://schemas.openxmlformats.org/officeDocument/2006/relationships/hyperlink" Target="https://ru.wikipedia.org/wiki/&#1064;&#1080;&#1096;&#1082;&#1080;&#1085;,_&#1048;&#1074;&#1072;&#1085;_&#1048;&#1074;&#1072;&#1085;&#1086;&#1074;&#1080;&#1095;" TargetMode="External" /><Relationship Id="rId7" Type="http://schemas.openxmlformats.org/officeDocument/2006/relationships/hyperlink" Target="https://spadilo.ru/biography/ivan-shishkin/" TargetMode="External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Relationship Id="rId6" Type="http://schemas.openxmlformats.org/officeDocument/2006/relationships/hyperlink" Target="https://my.tretyakov.ru/app/masterpiece/8390" TargetMode="External" /><Relationship Id="rId11" Type="http://schemas.openxmlformats.org/officeDocument/2006/relationships/hyperlink" Target="https://www.cbssev.ru/articles/cbs-2022-01-25-853" TargetMode="External" /><Relationship Id="rId5" Type="http://schemas.openxmlformats.org/officeDocument/2006/relationships/hyperlink" Target="https://filosofia.ru/ivan-shishkin-russkij-xudozhnik-pejzazhist/" TargetMode="External" /><Relationship Id="rId10" Type="http://schemas.openxmlformats.org/officeDocument/2006/relationships/hyperlink" Target="https://my.tretyakov.ru/app/masterpiece/51451" TargetMode="External" /><Relationship Id="rId4" Type="http://schemas.openxmlformats.org/officeDocument/2006/relationships/hyperlink" Target="https://obrazovaka.ru/alpha/s/shishkin-ivan-shishkin-ivan" TargetMode="External" /><Relationship Id="rId9" Type="http://schemas.openxmlformats.org/officeDocument/2006/relationships/hyperlink" Target="https://ar.culture.ru/ru/subject/i-i-shishkin-polden-okrestnosti-moskvy-bratcevo-1869-1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>
          <a:xfrm>
            <a:off x="2973779" y="4031825"/>
            <a:ext cx="5751599" cy="784200"/>
          </a:xfrm>
        </p:spPr>
        <p:txBody>
          <a:bodyPr/>
          <a:lstStyle/>
          <a:p>
            <a:r>
              <a:rPr lang="ru-RU" sz="1200" dirty="0">
                <a:solidFill>
                  <a:schemeClr val="accent3">
                    <a:lumMod val="75000"/>
                  </a:schemeClr>
                </a:solidFill>
              </a:rPr>
              <a:t>Выполнила: студентка группы 3-театр </a:t>
            </a:r>
            <a:r>
              <a:rPr lang="ru-RU" sz="1200" dirty="0" err="1">
                <a:solidFill>
                  <a:schemeClr val="accent3">
                    <a:lumMod val="75000"/>
                  </a:schemeClr>
                </a:solidFill>
              </a:rPr>
              <a:t>Маньшина</a:t>
            </a:r>
            <a:r>
              <a:rPr lang="ru-RU" sz="1200" dirty="0">
                <a:solidFill>
                  <a:schemeClr val="accent3">
                    <a:lumMod val="75000"/>
                  </a:schemeClr>
                </a:solidFill>
              </a:rPr>
              <a:t> Дарья</a:t>
            </a:r>
          </a:p>
          <a:p>
            <a:r>
              <a:rPr lang="ru-RU" sz="1200" dirty="0">
                <a:solidFill>
                  <a:schemeClr val="accent3">
                    <a:lumMod val="75000"/>
                  </a:schemeClr>
                </a:solidFill>
              </a:rPr>
              <a:t>Руководители: Краснова Г.Г.  и Касинова Т.А. 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617178" y="2068625"/>
            <a:ext cx="4108200" cy="2355300"/>
          </a:xfrm>
        </p:spPr>
        <p:txBody>
          <a:bodyPr/>
          <a:lstStyle/>
          <a:p>
            <a:r>
              <a:rPr lang="ru-RU" sz="4800" dirty="0">
                <a:solidFill>
                  <a:schemeClr val="bg1"/>
                </a:solidFill>
              </a:rPr>
              <a:t>Иван Иванович </a:t>
            </a:r>
            <a:r>
              <a:rPr lang="ru-RU" sz="6600" dirty="0">
                <a:solidFill>
                  <a:schemeClr val="bg1"/>
                </a:solidFill>
              </a:rPr>
              <a:t>Шишкин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223666" y="296533"/>
            <a:ext cx="3532610" cy="1021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9700">
              <a:lnSpc>
                <a:spcPct val="115000"/>
              </a:lnSpc>
              <a:buClr>
                <a:srgbClr val="2E3028"/>
              </a:buClr>
              <a:buSzPts val="1400"/>
            </a:pPr>
            <a:r>
              <a:rPr lang="ru-RU" sz="1050" dirty="0">
                <a:solidFill>
                  <a:schemeClr val="bg1"/>
                </a:solidFill>
                <a:latin typeface="Montserrat"/>
                <a:sym typeface="Montserrat"/>
              </a:rPr>
              <a:t>Государственное  бюджетное  профессиональное образовательное  учреждение  Астраханской области  «Астраханское  художественное  училище </a:t>
            </a:r>
          </a:p>
          <a:p>
            <a:pPr marL="139700">
              <a:lnSpc>
                <a:spcPct val="115000"/>
              </a:lnSpc>
              <a:buClr>
                <a:srgbClr val="2E3028"/>
              </a:buClr>
              <a:buSzPts val="1400"/>
            </a:pPr>
            <a:r>
              <a:rPr lang="ru-RU" sz="1050" dirty="0">
                <a:solidFill>
                  <a:schemeClr val="bg1"/>
                </a:solidFill>
                <a:latin typeface="Montserrat"/>
                <a:sym typeface="Montserrat"/>
              </a:rPr>
              <a:t>( техникум) Им. П. А. Власова»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7896969" y="4816025"/>
            <a:ext cx="808235" cy="2731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39700">
              <a:lnSpc>
                <a:spcPct val="115000"/>
              </a:lnSpc>
              <a:buClr>
                <a:srgbClr val="2E3028"/>
              </a:buClr>
              <a:buSzPts val="1400"/>
            </a:pPr>
            <a:r>
              <a:rPr lang="ru-RU" sz="1100" dirty="0">
                <a:solidFill>
                  <a:schemeClr val="accent1">
                    <a:lumMod val="50000"/>
                    <a:lumOff val="50000"/>
                  </a:schemeClr>
                </a:solidFill>
                <a:latin typeface="Montserrat"/>
                <a:sym typeface="Montserrat"/>
              </a:rPr>
              <a:t>2023 г.</a:t>
            </a:r>
          </a:p>
        </p:txBody>
      </p:sp>
    </p:spTree>
    <p:extLst>
      <p:ext uri="{BB962C8B-B14F-4D97-AF65-F5344CB8AC3E}">
        <p14:creationId xmlns:p14="http://schemas.microsoft.com/office/powerpoint/2010/main" val="2520219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2000"/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"/>
                    </a14:imgEffect>
                    <a14:imgEffect>
                      <a14:saturation sat="99000"/>
                    </a14:imgEffect>
                    <a14:imgEffect>
                      <a14:brightnessContrast contrast="2000"/>
                    </a14:imgEffect>
                  </a14:imgLayer>
                </a14:imgProps>
              </a:ext>
            </a:extLst>
          </a:blip>
          <a:srcRect/>
          <a:stretch>
            <a:fillRect t="-20000" b="-20000"/>
          </a:stretch>
        </a:blip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>
            <a:spLocks noGrp="1"/>
          </p:cNvSpPr>
          <p:nvPr>
            <p:ph type="title"/>
          </p:nvPr>
        </p:nvSpPr>
        <p:spPr>
          <a:xfrm>
            <a:off x="4600445" y="3195101"/>
            <a:ext cx="3987600" cy="52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И. Крамской</a:t>
            </a:r>
            <a:endParaRPr dirty="0"/>
          </a:p>
        </p:txBody>
      </p:sp>
      <p:sp>
        <p:nvSpPr>
          <p:cNvPr id="168" name="Google Shape;168;p28"/>
          <p:cNvSpPr txBox="1">
            <a:spLocks noGrp="1"/>
          </p:cNvSpPr>
          <p:nvPr>
            <p:ph type="subTitle" idx="1"/>
          </p:nvPr>
        </p:nvSpPr>
        <p:spPr>
          <a:xfrm>
            <a:off x="4367175" y="1002182"/>
            <a:ext cx="4220870" cy="18136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i="1" dirty="0"/>
              <a:t>« </a:t>
            </a:r>
            <a:r>
              <a:rPr lang="ru-RU" sz="1800" i="1" dirty="0"/>
              <a:t>Когда он перед натурой, он точно в своей стихии, тут он и смел, и не задумывается как, что и почему; это единственный  у нас человек, который знает природу ученым образом»</a:t>
            </a:r>
            <a:endParaRPr sz="1800" i="1" dirty="0"/>
          </a:p>
        </p:txBody>
      </p:sp>
      <p:cxnSp>
        <p:nvCxnSpPr>
          <p:cNvPr id="169" name="Google Shape;169;p28"/>
          <p:cNvCxnSpPr/>
          <p:nvPr/>
        </p:nvCxnSpPr>
        <p:spPr>
          <a:xfrm>
            <a:off x="5332780" y="3013862"/>
            <a:ext cx="3760013" cy="749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oval" w="med" len="med"/>
            <a:tailEnd type="none" w="med" len="med"/>
          </a:ln>
        </p:spPr>
      </p:cxnSp>
      <p:pic>
        <p:nvPicPr>
          <p:cNvPr id="1026" name="Picture 2" descr="https://polzam.ru/images/history/118/7/2/7.002_%D0%A8%D0%B8%D1%88%D0%BA%D0%B8%D0%BD_2.jpg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54000"/>
                    </a14:imgEffect>
                    <a14:imgEffect>
                      <a14:brightnessContrast bright="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944" y="361018"/>
            <a:ext cx="3672231" cy="44485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>
          <a:xfrm>
            <a:off x="440394" y="503457"/>
            <a:ext cx="8250064" cy="3900294"/>
          </a:xfrm>
        </p:spPr>
        <p:txBody>
          <a:bodyPr/>
          <a:lstStyle/>
          <a:p>
            <a:r>
              <a:rPr lang="ru-RU" sz="1600" b="1" dirty="0"/>
              <a:t>Актуальность проекта</a:t>
            </a:r>
          </a:p>
          <a:p>
            <a:r>
              <a:rPr lang="ru-RU" sz="1600" b="1" dirty="0"/>
              <a:t> </a:t>
            </a:r>
            <a:r>
              <a:rPr lang="ru-RU" dirty="0"/>
              <a:t>В настоящее время не утихает роль современного культурного наследия в воспитании подрастающего поколения. Многим доводилось слышать о творчестве великого русского художника Шишкина, но немногие знают, что одна из его работ хранится в нашей Астраханской картинной галерее. Поэтому я бы хотела обратить внимание современного зрителя на работу, которую они бы могли увидеть своими глазами.</a:t>
            </a:r>
          </a:p>
          <a:p>
            <a:endParaRPr lang="ru-RU" sz="1600" dirty="0"/>
          </a:p>
          <a:p>
            <a:r>
              <a:rPr lang="ru-RU" sz="1600" b="1" dirty="0"/>
              <a:t>Цель проекта: </a:t>
            </a:r>
            <a:r>
              <a:rPr lang="ru-RU" dirty="0"/>
              <a:t>привлечь внимание студентов к проблеме сохранения культурного наследия нашей страны.</a:t>
            </a:r>
            <a:r>
              <a:rPr lang="ru-RU" b="1" dirty="0"/>
              <a:t> </a:t>
            </a:r>
          </a:p>
          <a:p>
            <a:endParaRPr lang="ru-RU" sz="1600" dirty="0"/>
          </a:p>
          <a:p>
            <a:r>
              <a:rPr lang="ru-RU" sz="1600" b="1" dirty="0"/>
              <a:t>Задачи проекта:</a:t>
            </a:r>
            <a:endParaRPr lang="ru-RU" sz="1600" dirty="0"/>
          </a:p>
          <a:p>
            <a:pPr marL="482600" lvl="0" indent="-342900">
              <a:buFont typeface="+mj-lt"/>
              <a:buAutoNum type="arabicPeriod"/>
            </a:pPr>
            <a:r>
              <a:rPr lang="ru-RU" dirty="0"/>
              <a:t>Собрать и систематизировать информацию о жизни и творчестве И.И. Шишкина</a:t>
            </a:r>
          </a:p>
          <a:p>
            <a:pPr marL="482600" lvl="0" indent="-342900">
              <a:buFont typeface="+mj-lt"/>
              <a:buAutoNum type="arabicPeriod"/>
            </a:pPr>
            <a:r>
              <a:rPr lang="ru-RU" dirty="0"/>
              <a:t>Выявить стилистических особенностей картин И.И. Шишкина</a:t>
            </a:r>
          </a:p>
          <a:p>
            <a:pPr marL="482600" lvl="0" indent="-342900">
              <a:buFont typeface="+mj-lt"/>
              <a:buAutoNum type="arabicPeriod"/>
            </a:pPr>
            <a:r>
              <a:rPr lang="ru-RU" dirty="0"/>
              <a:t>Проанализировать картину «Полдень. В окрестностях Москвы» и написанный к ней этюд «Полдень. Окрестности Москвы. </a:t>
            </a:r>
            <a:r>
              <a:rPr lang="ru-RU" dirty="0" err="1"/>
              <a:t>Братцево</a:t>
            </a:r>
            <a:r>
              <a:rPr lang="ru-RU" dirty="0"/>
              <a:t>»</a:t>
            </a:r>
          </a:p>
          <a:p>
            <a:r>
              <a:rPr lang="ru-RU" dirty="0"/>
              <a:t> 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19843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" name="Google Shape;133;p26"/>
          <p:cNvCxnSpPr/>
          <p:nvPr/>
        </p:nvCxnSpPr>
        <p:spPr>
          <a:xfrm rot="10800000" flipH="1">
            <a:off x="710550" y="960875"/>
            <a:ext cx="7727100" cy="12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34" name="Google Shape;134;p26"/>
          <p:cNvSpPr txBox="1">
            <a:spLocks noGrp="1"/>
          </p:cNvSpPr>
          <p:nvPr>
            <p:ph type="title"/>
          </p:nvPr>
        </p:nvSpPr>
        <p:spPr>
          <a:xfrm>
            <a:off x="721950" y="362250"/>
            <a:ext cx="7704300" cy="5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/>
              <a:t>Жизнь великого труженика</a:t>
            </a:r>
            <a:endParaRPr dirty="0"/>
          </a:p>
        </p:txBody>
      </p:sp>
      <p:sp>
        <p:nvSpPr>
          <p:cNvPr id="135" name="Google Shape;135;p26"/>
          <p:cNvSpPr txBox="1">
            <a:spLocks noGrp="1"/>
          </p:cNvSpPr>
          <p:nvPr>
            <p:ph type="body" idx="1"/>
          </p:nvPr>
        </p:nvSpPr>
        <p:spPr>
          <a:xfrm>
            <a:off x="710551" y="1290642"/>
            <a:ext cx="5084322" cy="19923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ru-RU" sz="1600" dirty="0"/>
              <a:t>Иван Иванович Шишкин происходил из довольно древнего и богатого купеческого рода. Родился в Елабуге в 1832 году 25 января. Его отец был довольно известным в городе зажиточным купцом. Он постарался дать сыну хорошее образование. </a:t>
            </a:r>
          </a:p>
          <a:p>
            <a:pPr marL="0" lvl="0" indent="0">
              <a:buNone/>
            </a:pPr>
            <a:endParaRPr lang="ru-RU" sz="1600" dirty="0"/>
          </a:p>
        </p:txBody>
      </p:sp>
      <p:pic>
        <p:nvPicPr>
          <p:cNvPr id="2050" name="Picture 2" descr="https://arthive.net/res/media/img/orig/work/626/313971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4404" y="1054198"/>
            <a:ext cx="2511846" cy="372285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Стрелка углом вверх 2"/>
          <p:cNvSpPr/>
          <p:nvPr/>
        </p:nvSpPr>
        <p:spPr>
          <a:xfrm>
            <a:off x="5359706" y="4697456"/>
            <a:ext cx="870333" cy="242371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Google Shape;176;p29"/>
          <p:cNvSpPr txBox="1">
            <a:spLocks/>
          </p:cNvSpPr>
          <p:nvPr/>
        </p:nvSpPr>
        <p:spPr>
          <a:xfrm>
            <a:off x="721950" y="4319008"/>
            <a:ext cx="5760777" cy="4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i="1" dirty="0">
                <a:solidFill>
                  <a:srgbClr val="2E3028"/>
                </a:solidFill>
                <a:latin typeface="Montserrat"/>
                <a:sym typeface="Montserrat"/>
              </a:rPr>
              <a:t>Этот «Автопортрет» (1854) создан Шишкиным в годы учения в московском Училище  живописи и ваяния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4177429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8000" t="-35000" r="-18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519380" y="2509071"/>
            <a:ext cx="800648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ts val="1100"/>
            </a:pPr>
            <a:r>
              <a:rPr lang="ru-RU" sz="1600" i="1" dirty="0">
                <a:solidFill>
                  <a:schemeClr val="accent1">
                    <a:lumMod val="25000"/>
                    <a:lumOff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/>
                <a:sym typeface="Montserrat"/>
              </a:rPr>
              <a:t> «Он все-таки неизмеримо выше всех, взятых вместе, до сих пор… Шишкин — верстовой столб в развитии русского пейзажа, это человек — школа, но живая школа»</a:t>
            </a:r>
          </a:p>
          <a:p>
            <a:pPr lvl="0" algn="r">
              <a:buSzPts val="1100"/>
            </a:pPr>
            <a:r>
              <a:rPr lang="ru-RU" sz="1600" i="1" dirty="0">
                <a:solidFill>
                  <a:schemeClr val="accent1">
                    <a:lumMod val="25000"/>
                    <a:lumOff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/>
                <a:sym typeface="Montserrat"/>
              </a:rPr>
              <a:t>Иван Крамской</a:t>
            </a:r>
          </a:p>
        </p:txBody>
      </p:sp>
    </p:spTree>
    <p:extLst>
      <p:ext uri="{BB962C8B-B14F-4D97-AF65-F5344CB8AC3E}">
        <p14:creationId xmlns:p14="http://schemas.microsoft.com/office/powerpoint/2010/main" val="2248102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" name="Google Shape;133;p26"/>
          <p:cNvCxnSpPr/>
          <p:nvPr/>
        </p:nvCxnSpPr>
        <p:spPr>
          <a:xfrm rot="10800000" flipH="1">
            <a:off x="710550" y="960875"/>
            <a:ext cx="7727100" cy="12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34" name="Google Shape;134;p26"/>
          <p:cNvSpPr txBox="1">
            <a:spLocks noGrp="1"/>
          </p:cNvSpPr>
          <p:nvPr>
            <p:ph type="title"/>
          </p:nvPr>
        </p:nvSpPr>
        <p:spPr>
          <a:xfrm>
            <a:off x="721950" y="362250"/>
            <a:ext cx="7704300" cy="5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2400" dirty="0"/>
              <a:t>Стилистические особенности работ И.И.Шишкина</a:t>
            </a:r>
          </a:p>
        </p:txBody>
      </p:sp>
      <p:sp>
        <p:nvSpPr>
          <p:cNvPr id="135" name="Google Shape;135;p26"/>
          <p:cNvSpPr txBox="1">
            <a:spLocks noGrp="1"/>
          </p:cNvSpPr>
          <p:nvPr>
            <p:ph type="body" idx="1"/>
          </p:nvPr>
        </p:nvSpPr>
        <p:spPr>
          <a:xfrm>
            <a:off x="435797" y="1018600"/>
            <a:ext cx="8240029" cy="19923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ru-RU" sz="1400" dirty="0"/>
              <a:t>Утро в сосновом лесу является самым узнаваемым пейзажем художника Шишкина. Главный акцент картины – это сочетание солнечного света на заднем плане и медведей на дереве на переднем. </a:t>
            </a:r>
          </a:p>
        </p:txBody>
      </p:sp>
      <p:sp>
        <p:nvSpPr>
          <p:cNvPr id="11" name="Google Shape;176;p29"/>
          <p:cNvSpPr txBox="1">
            <a:spLocks/>
          </p:cNvSpPr>
          <p:nvPr/>
        </p:nvSpPr>
        <p:spPr>
          <a:xfrm>
            <a:off x="721950" y="4319008"/>
            <a:ext cx="5760777" cy="4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sz="1200" dirty="0"/>
          </a:p>
        </p:txBody>
      </p:sp>
      <p:pic>
        <p:nvPicPr>
          <p:cNvPr id="8" name="Рисунок 7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56" b="5405"/>
          <a:stretch/>
        </p:blipFill>
        <p:spPr>
          <a:xfrm>
            <a:off x="435797" y="2014792"/>
            <a:ext cx="5765924" cy="29484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Прямоугольник 1"/>
          <p:cNvSpPr/>
          <p:nvPr/>
        </p:nvSpPr>
        <p:spPr>
          <a:xfrm>
            <a:off x="6419602" y="3410971"/>
            <a:ext cx="22562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i="1" dirty="0">
                <a:solidFill>
                  <a:srgbClr val="2E3028"/>
                </a:solidFill>
                <a:latin typeface="Montserrat"/>
                <a:sym typeface="Montserrat"/>
              </a:rPr>
              <a:t>Утро в сосновом лесу 1889 г.  Холст, масло</a:t>
            </a:r>
            <a:endParaRPr lang="en-US" sz="1200" i="1" dirty="0"/>
          </a:p>
        </p:txBody>
      </p:sp>
      <p:sp>
        <p:nvSpPr>
          <p:cNvPr id="10" name="Стрелка углом вверх 9"/>
          <p:cNvSpPr/>
          <p:nvPr/>
        </p:nvSpPr>
        <p:spPr>
          <a:xfrm flipH="1">
            <a:off x="5859597" y="3830223"/>
            <a:ext cx="1170309" cy="242371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206" y="531929"/>
            <a:ext cx="3540610" cy="24933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" name="Рисунок 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098" y="531929"/>
            <a:ext cx="3781957" cy="24933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Прямоугольник 3"/>
          <p:cNvSpPr/>
          <p:nvPr/>
        </p:nvSpPr>
        <p:spPr>
          <a:xfrm>
            <a:off x="649645" y="3057634"/>
            <a:ext cx="34980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i="1" dirty="0">
                <a:solidFill>
                  <a:srgbClr val="2E3028"/>
                </a:solidFill>
                <a:latin typeface="Montserrat"/>
                <a:sym typeface="Montserrat"/>
              </a:rPr>
              <a:t>Дубовая роща 1872 г. Холст, масло</a:t>
            </a:r>
            <a:endParaRPr lang="en-US" sz="1200" i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496610" y="3057634"/>
            <a:ext cx="420339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i="1" dirty="0">
                <a:solidFill>
                  <a:srgbClr val="2E3028"/>
                </a:solidFill>
                <a:latin typeface="Montserrat"/>
                <a:sym typeface="Montserrat"/>
              </a:rPr>
              <a:t>Дождь в дубовом лесу 1891 г. Холст, масло</a:t>
            </a:r>
            <a:endParaRPr lang="en-US" sz="1200" i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559214" y="3552581"/>
            <a:ext cx="8050362" cy="11895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buClr>
                <a:srgbClr val="2E3028"/>
              </a:buClr>
              <a:buSzPts val="1100"/>
            </a:pPr>
            <a:r>
              <a:rPr lang="ru-RU" sz="1600" dirty="0">
                <a:solidFill>
                  <a:srgbClr val="2E3028"/>
                </a:solidFill>
                <a:latin typeface="Montserrat"/>
                <a:sym typeface="Montserrat"/>
              </a:rPr>
              <a:t>Такие картины русского художника, как «Дубовая роща», «Вечер», «Лесные дали» и многие другие легко узнаваемы благодаря манере письма автора, его вниманию даже к совсем мелким деталям.  </a:t>
            </a:r>
          </a:p>
          <a:p>
            <a:pPr lvl="0">
              <a:lnSpc>
                <a:spcPct val="115000"/>
              </a:lnSpc>
              <a:buClr>
                <a:srgbClr val="2E3028"/>
              </a:buClr>
              <a:buSzPts val="1100"/>
            </a:pPr>
            <a:endParaRPr lang="ru-RU" dirty="0">
              <a:solidFill>
                <a:srgbClr val="2E3028"/>
              </a:solidFill>
              <a:latin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72299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557877" y="446227"/>
            <a:ext cx="4619117" cy="131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buClr>
                <a:srgbClr val="2E3028"/>
              </a:buClr>
              <a:buSzPts val="1100"/>
            </a:pPr>
            <a:r>
              <a:rPr lang="ru-RU" dirty="0">
                <a:solidFill>
                  <a:srgbClr val="2E3028"/>
                </a:solidFill>
                <a:latin typeface="Montserrat"/>
                <a:sym typeface="Montserrat"/>
              </a:rPr>
              <a:t>Иван Иванович Шишкин был не только прекрасным живописцем и рисовальщиком, но и крупнейшим мастером гравюры и литографии в России второй половины XIX века. </a:t>
            </a:r>
          </a:p>
        </p:txBody>
      </p:sp>
      <p:pic>
        <p:nvPicPr>
          <p:cNvPr id="5" name="Рисунок 4" descr="https://izo-museum.ru/upload/albom-60-ofortov-i.i.shishkina-1870-1892.-1894_5c2224b3f06b7.jpg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89" t="9738" r="12451" b="15417"/>
          <a:stretch/>
        </p:blipFill>
        <p:spPr bwMode="auto">
          <a:xfrm>
            <a:off x="5081895" y="578892"/>
            <a:ext cx="3343047" cy="38916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5728264" y="4470579"/>
            <a:ext cx="2299027" cy="3225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15000"/>
              </a:lnSpc>
              <a:buClr>
                <a:srgbClr val="2E3028"/>
              </a:buClr>
              <a:buSzPts val="1100"/>
            </a:pPr>
            <a:r>
              <a:rPr lang="ru-RU" i="1" dirty="0">
                <a:solidFill>
                  <a:srgbClr val="2E3028"/>
                </a:solidFill>
                <a:latin typeface="Montserrat"/>
                <a:sym typeface="Montserrat"/>
              </a:rPr>
              <a:t>Зорька. Офорт. 1876 г. </a:t>
            </a:r>
          </a:p>
        </p:txBody>
      </p:sp>
      <p:pic>
        <p:nvPicPr>
          <p:cNvPr id="10" name="Рисунок 9" descr="https://izo-museum.ru/upload/albom-60-ofortov-i.i.shishkina-1870-1892.-1894_5c222397eb5cb.jpg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99" t="20526" r="12012" b="15043"/>
          <a:stretch/>
        </p:blipFill>
        <p:spPr bwMode="auto">
          <a:xfrm>
            <a:off x="696333" y="1759792"/>
            <a:ext cx="2563546" cy="295718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Прямоугольник 10"/>
          <p:cNvSpPr/>
          <p:nvPr/>
        </p:nvSpPr>
        <p:spPr>
          <a:xfrm>
            <a:off x="3259879" y="1696136"/>
            <a:ext cx="1641480" cy="5878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buClr>
                <a:srgbClr val="2E3028"/>
              </a:buClr>
              <a:buSzPts val="1100"/>
            </a:pPr>
            <a:r>
              <a:rPr lang="ru-RU" i="1" dirty="0">
                <a:solidFill>
                  <a:srgbClr val="2E3028"/>
                </a:solidFill>
                <a:latin typeface="Montserrat"/>
                <a:sym typeface="Montserrat"/>
              </a:rPr>
              <a:t>Автопортрет. Офорт. 1886 г. </a:t>
            </a:r>
          </a:p>
        </p:txBody>
      </p:sp>
    </p:spTree>
    <p:extLst>
      <p:ext uri="{BB962C8B-B14F-4D97-AF65-F5344CB8AC3E}">
        <p14:creationId xmlns:p14="http://schemas.microsoft.com/office/powerpoint/2010/main" val="1609585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" name="Google Shape;133;p26"/>
          <p:cNvCxnSpPr/>
          <p:nvPr/>
        </p:nvCxnSpPr>
        <p:spPr>
          <a:xfrm rot="10800000" flipH="1">
            <a:off x="710550" y="960875"/>
            <a:ext cx="7727100" cy="12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34" name="Google Shape;134;p26"/>
          <p:cNvSpPr txBox="1">
            <a:spLocks noGrp="1"/>
          </p:cNvSpPr>
          <p:nvPr>
            <p:ph type="title"/>
          </p:nvPr>
        </p:nvSpPr>
        <p:spPr>
          <a:xfrm>
            <a:off x="721950" y="362250"/>
            <a:ext cx="7704300" cy="5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2400" dirty="0"/>
              <a:t>Анализ картины «Полдень. В окрестностях Москвы»</a:t>
            </a:r>
          </a:p>
        </p:txBody>
      </p:sp>
      <p:sp>
        <p:nvSpPr>
          <p:cNvPr id="135" name="Google Shape;135;p26"/>
          <p:cNvSpPr txBox="1">
            <a:spLocks noGrp="1"/>
          </p:cNvSpPr>
          <p:nvPr>
            <p:ph type="body" idx="1"/>
          </p:nvPr>
        </p:nvSpPr>
        <p:spPr>
          <a:xfrm>
            <a:off x="710551" y="1148486"/>
            <a:ext cx="4161372" cy="36722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ru-RU" sz="1600" dirty="0"/>
              <a:t>"Полдень. В окрестностях Москвы" (1869) – произведение И.И. Шишкина, с которого, собственно, и началась слава художника. Она стала первой его картиной, которую приобрел Павел Третьяков, известный меценат и основатель Третьяковской галереи. </a:t>
            </a:r>
          </a:p>
        </p:txBody>
      </p:sp>
      <p:pic>
        <p:nvPicPr>
          <p:cNvPr id="8" name="Рисунок 7" descr="https://avatars.dzeninfra.ru/get-zen_doc/1873427/pub_5d0e50067fc34f00af911d03_5d0e54ca2e1e1b00af6cac3f/scale_2400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615" y="1018600"/>
            <a:ext cx="3279253" cy="391184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Стрелка углом вверх 8"/>
          <p:cNvSpPr/>
          <p:nvPr/>
        </p:nvSpPr>
        <p:spPr>
          <a:xfrm>
            <a:off x="4436756" y="4466541"/>
            <a:ext cx="870333" cy="242371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1661526" y="4121059"/>
            <a:ext cx="4293047" cy="5702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buClr>
                <a:srgbClr val="2E3028"/>
              </a:buClr>
              <a:buSzPts val="1100"/>
            </a:pPr>
            <a:r>
              <a:rPr lang="ru-RU" i="1" dirty="0">
                <a:solidFill>
                  <a:srgbClr val="2E3028"/>
                </a:solidFill>
                <a:latin typeface="Montserrat"/>
                <a:sym typeface="Montserrat"/>
              </a:rPr>
              <a:t>«Полдень. Окрестности Москвы. </a:t>
            </a:r>
            <a:r>
              <a:rPr lang="ru-RU" i="1" dirty="0" err="1">
                <a:solidFill>
                  <a:srgbClr val="2E3028"/>
                </a:solidFill>
                <a:latin typeface="Montserrat"/>
                <a:sym typeface="Montserrat"/>
              </a:rPr>
              <a:t>Братцево</a:t>
            </a:r>
            <a:r>
              <a:rPr lang="ru-RU" i="1" dirty="0">
                <a:solidFill>
                  <a:srgbClr val="2E3028"/>
                </a:solidFill>
                <a:latin typeface="Montserrat"/>
                <a:sym typeface="Montserrat"/>
              </a:rPr>
              <a:t>», Этюд, 1866 г</a:t>
            </a:r>
          </a:p>
        </p:txBody>
      </p:sp>
    </p:spTree>
    <p:extLst>
      <p:ext uri="{BB962C8B-B14F-4D97-AF65-F5344CB8AC3E}">
        <p14:creationId xmlns:p14="http://schemas.microsoft.com/office/powerpoint/2010/main" val="3438002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264910" y="427351"/>
            <a:ext cx="4345229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buClr>
                <a:srgbClr val="2E3028"/>
              </a:buClr>
              <a:buSzPts val="1100"/>
            </a:pPr>
            <a:r>
              <a:rPr lang="ru-RU" sz="1600" dirty="0">
                <a:solidFill>
                  <a:srgbClr val="2E3028"/>
                </a:solidFill>
                <a:latin typeface="Montserrat"/>
                <a:sym typeface="Montserrat"/>
              </a:rPr>
              <a:t>Во всей картине чувствуется умиротворенность и устойчивость деревенской жизни с повторяющимся кругом времён года и труда…</a:t>
            </a:r>
          </a:p>
        </p:txBody>
      </p:sp>
      <p:pic>
        <p:nvPicPr>
          <p:cNvPr id="5" name="Рисунок 4" descr="Шишкин И.И. «Полдень. В окрестностях Москвы», 1869 год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748" y="163263"/>
            <a:ext cx="3497377" cy="47952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Рисунок 5" descr="Шишкин И.И. «Полдень. В окрестностях Москвы», 1869 год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55" t="70278" r="51679" b="20554"/>
          <a:stretch/>
        </p:blipFill>
        <p:spPr bwMode="auto">
          <a:xfrm>
            <a:off x="4326357" y="2264641"/>
            <a:ext cx="2217725" cy="9802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Рисунок 6" descr="Шишкин И.И. «Полдень. В окрестностях Москвы», 1869 год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66" t="72870" r="37425" b="9891"/>
          <a:stretch/>
        </p:blipFill>
        <p:spPr bwMode="auto">
          <a:xfrm>
            <a:off x="6868315" y="1935456"/>
            <a:ext cx="1623974" cy="16386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Стрелка углом вверх 7"/>
          <p:cNvSpPr/>
          <p:nvPr/>
        </p:nvSpPr>
        <p:spPr>
          <a:xfrm flipH="1">
            <a:off x="3679756" y="4415771"/>
            <a:ext cx="1170309" cy="242371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4081934" y="4214432"/>
            <a:ext cx="4215199" cy="322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lnSpc>
                <a:spcPct val="115000"/>
              </a:lnSpc>
              <a:buClr>
                <a:srgbClr val="2E3028"/>
              </a:buClr>
              <a:buSzPts val="1100"/>
            </a:pPr>
            <a:r>
              <a:rPr lang="ru-RU" i="1" dirty="0">
                <a:solidFill>
                  <a:srgbClr val="2E3028"/>
                </a:solidFill>
                <a:latin typeface="Montserrat"/>
                <a:sym typeface="Montserrat"/>
              </a:rPr>
              <a:t>«Полдень. В окрестностях Москвы», 1869</a:t>
            </a:r>
          </a:p>
        </p:txBody>
      </p:sp>
    </p:spTree>
    <p:extLst>
      <p:ext uri="{BB962C8B-B14F-4D97-AF65-F5344CB8AC3E}">
        <p14:creationId xmlns:p14="http://schemas.microsoft.com/office/powerpoint/2010/main" val="1610657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" name="Google Shape;133;p26"/>
          <p:cNvCxnSpPr/>
          <p:nvPr/>
        </p:nvCxnSpPr>
        <p:spPr>
          <a:xfrm rot="10800000" flipH="1">
            <a:off x="710550" y="873046"/>
            <a:ext cx="7727100" cy="12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34" name="Google Shape;134;p26"/>
          <p:cNvSpPr txBox="1">
            <a:spLocks noGrp="1"/>
          </p:cNvSpPr>
          <p:nvPr>
            <p:ph type="title"/>
          </p:nvPr>
        </p:nvSpPr>
        <p:spPr>
          <a:xfrm>
            <a:off x="721950" y="202883"/>
            <a:ext cx="7704300" cy="5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200" dirty="0"/>
              <a:t>Заключение</a:t>
            </a:r>
            <a:endParaRPr sz="3200" dirty="0"/>
          </a:p>
        </p:txBody>
      </p:sp>
      <p:sp>
        <p:nvSpPr>
          <p:cNvPr id="135" name="Google Shape;135;p26"/>
          <p:cNvSpPr txBox="1">
            <a:spLocks noGrp="1"/>
          </p:cNvSpPr>
          <p:nvPr>
            <p:ph type="body" idx="1"/>
          </p:nvPr>
        </p:nvSpPr>
        <p:spPr>
          <a:xfrm>
            <a:off x="1280160" y="873045"/>
            <a:ext cx="6561734" cy="15403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ru-RU" sz="1400" dirty="0"/>
              <a:t>В данном проекте мы:</a:t>
            </a:r>
          </a:p>
          <a:p>
            <a:pPr marL="342900" lvl="0" indent="-342900">
              <a:buAutoNum type="arabicPeriod"/>
            </a:pPr>
            <a:r>
              <a:rPr lang="ru-RU" sz="1400" dirty="0"/>
              <a:t>Познакомились с жизнью и творчеством И.И. Шишкина</a:t>
            </a:r>
          </a:p>
          <a:p>
            <a:pPr marL="342900" lvl="0" indent="-342900">
              <a:buAutoNum type="arabicPeriod"/>
            </a:pPr>
            <a:r>
              <a:rPr lang="ru-RU" sz="1400" dirty="0"/>
              <a:t>Выявили стилистические особенности картин художника</a:t>
            </a:r>
          </a:p>
          <a:p>
            <a:pPr marL="342900" lvl="0" indent="-342900">
              <a:buAutoNum type="arabicPeriod"/>
            </a:pPr>
            <a:r>
              <a:rPr lang="ru-RU" sz="1400" dirty="0"/>
              <a:t>Проанализировали картину «Полдень. В окрестностях Москвы» и написанный к ней этюд «Полдень. Окрестности Москвы. </a:t>
            </a:r>
            <a:r>
              <a:rPr lang="ru-RU" sz="1400" dirty="0" err="1"/>
              <a:t>Братцево</a:t>
            </a:r>
            <a:r>
              <a:rPr lang="ru-RU" sz="1400" dirty="0"/>
              <a:t>»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25" b="25661"/>
          <a:stretch/>
        </p:blipFill>
        <p:spPr>
          <a:xfrm>
            <a:off x="1221638" y="2530647"/>
            <a:ext cx="6678778" cy="2250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162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" name="Google Shape;133;p26"/>
          <p:cNvCxnSpPr/>
          <p:nvPr/>
        </p:nvCxnSpPr>
        <p:spPr>
          <a:xfrm rot="10800000" flipH="1">
            <a:off x="710550" y="873046"/>
            <a:ext cx="7727100" cy="12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34" name="Google Shape;134;p26"/>
          <p:cNvSpPr txBox="1">
            <a:spLocks noGrp="1"/>
          </p:cNvSpPr>
          <p:nvPr>
            <p:ph type="title"/>
          </p:nvPr>
        </p:nvSpPr>
        <p:spPr>
          <a:xfrm>
            <a:off x="721950" y="202883"/>
            <a:ext cx="7704300" cy="5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2800" dirty="0"/>
              <a:t>Список источников</a:t>
            </a:r>
            <a:endParaRPr sz="2800" dirty="0"/>
          </a:p>
        </p:txBody>
      </p:sp>
      <p:sp>
        <p:nvSpPr>
          <p:cNvPr id="135" name="Google Shape;135;p26"/>
          <p:cNvSpPr txBox="1">
            <a:spLocks noGrp="1"/>
          </p:cNvSpPr>
          <p:nvPr>
            <p:ph type="body" idx="1"/>
          </p:nvPr>
        </p:nvSpPr>
        <p:spPr>
          <a:xfrm>
            <a:off x="1280160" y="873045"/>
            <a:ext cx="6561734" cy="15403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1400" u="sng" dirty="0">
                <a:hlinkClick r:id="rId3"/>
              </a:rPr>
              <a:t>https://ru.wikipedia.org/wiki/Шишкин,_Иван_Иванович</a:t>
            </a:r>
            <a:r>
              <a:rPr lang="ru-RU" sz="1400" dirty="0"/>
              <a:t>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1400" u="sng" dirty="0">
                <a:hlinkClick r:id="rId4"/>
              </a:rPr>
              <a:t>https://obrazovaka.ru/alpha/s/shishkin-ivan-shishkin-ivan</a:t>
            </a:r>
            <a:endParaRPr lang="ru-RU" sz="1400" u="sng" dirty="0"/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1400" u="sng" dirty="0">
                <a:hlinkClick r:id="rId5"/>
              </a:rPr>
              <a:t>https://filosofia.ru/ivan-shishkin-russkij-xudozhnik-pejzazhist/</a:t>
            </a:r>
            <a:endParaRPr lang="ru-RU" sz="1400" u="sng" dirty="0"/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1400" u="sng" dirty="0">
                <a:hlinkClick r:id="rId6"/>
              </a:rPr>
              <a:t>https://my.tretyakov.ru/app/masterpiece/8390</a:t>
            </a:r>
            <a:endParaRPr lang="ru-RU" sz="1400" u="sng" dirty="0"/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1400" u="sng" dirty="0">
                <a:hlinkClick r:id="rId7"/>
              </a:rPr>
              <a:t>https://spadilo.ru/biography/ivan-shishkin/</a:t>
            </a:r>
            <a:r>
              <a:rPr lang="ru-RU" sz="1400" dirty="0"/>
              <a:t> </a:t>
            </a:r>
            <a:endParaRPr lang="ru-RU" sz="1400" u="sng" dirty="0"/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1400" u="sng" dirty="0">
                <a:hlinkClick r:id="rId8"/>
              </a:rPr>
              <a:t>https://izo-museum.ru/kollektsii/grafika/russkaya-gravyura/albom-60-ofortov-i.i.shishkina-1870-1892.-1894</a:t>
            </a:r>
            <a:endParaRPr lang="ru-RU" sz="1400" u="sng" dirty="0"/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1400" u="sng" dirty="0">
                <a:hlinkClick r:id="rId9"/>
              </a:rPr>
              <a:t>https://ar.culture.ru/ru/subject/i-i-shishkin-polden-okrestnosti-moskvy-bratcevo-1869-1</a:t>
            </a:r>
            <a:endParaRPr lang="ru-RU" sz="1400" u="sng" dirty="0"/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1400" u="sng" dirty="0">
                <a:hlinkClick r:id="rId10"/>
              </a:rPr>
              <a:t>https://my.tretyakov.ru/app/masterpiece/51451</a:t>
            </a:r>
            <a:endParaRPr lang="ru-RU" sz="1400" u="sng" dirty="0"/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1400" u="sng" dirty="0">
                <a:hlinkClick r:id="rId11"/>
              </a:rPr>
              <a:t>https://www.cbssev.ru/articles/cbs-2022-01-25-853</a:t>
            </a:r>
            <a:r>
              <a:rPr lang="ru-RU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22952922"/>
      </p:ext>
    </p:extLst>
  </p:cSld>
  <p:clrMapOvr>
    <a:masterClrMapping/>
  </p:clrMapOvr>
</p:sld>
</file>

<file path=ppt/theme/theme1.xml><?xml version="1.0" encoding="utf-8"?>
<a:theme xmlns:a="http://schemas.openxmlformats.org/drawingml/2006/main" name="Eco Project Proposal by Slidesgo">
  <a:themeElements>
    <a:clrScheme name="Другая 15">
      <a:dk1>
        <a:srgbClr val="000000"/>
      </a:dk1>
      <a:lt1>
        <a:srgbClr val="FFFFFF"/>
      </a:lt1>
      <a:dk2>
        <a:srgbClr val="595959"/>
      </a:dk2>
      <a:lt2>
        <a:srgbClr val="787739"/>
      </a:lt2>
      <a:accent1>
        <a:srgbClr val="2E3028"/>
      </a:accent1>
      <a:accent2>
        <a:srgbClr val="9AAE8E"/>
      </a:accent2>
      <a:accent3>
        <a:srgbClr val="ECF0EA"/>
      </a:accent3>
      <a:accent4>
        <a:srgbClr val="666954"/>
      </a:accent4>
      <a:accent5>
        <a:srgbClr val="D3F2C1"/>
      </a:accent5>
      <a:accent6>
        <a:srgbClr val="9E9E9E"/>
      </a:accent6>
      <a:hlink>
        <a:srgbClr val="0C2E3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599</Words>
  <Application>Microsoft Office PowerPoint</Application>
  <PresentationFormat>Экран (16:9)</PresentationFormat>
  <Paragraphs>52</Paragraphs>
  <Slides>12</Slides>
  <Notes>7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Eco Project Proposal by Slidesgo</vt:lpstr>
      <vt:lpstr>Иван Иванович Шишкин</vt:lpstr>
      <vt:lpstr>И. Крамской</vt:lpstr>
      <vt:lpstr>Презентация PowerPoint</vt:lpstr>
      <vt:lpstr>Жизнь великого труженика</vt:lpstr>
      <vt:lpstr>Презентация PowerPoint</vt:lpstr>
      <vt:lpstr>Стилистические особенности работ И.И.Шишкина</vt:lpstr>
      <vt:lpstr>Презентация PowerPoint</vt:lpstr>
      <vt:lpstr>Презентация PowerPoint</vt:lpstr>
      <vt:lpstr>Анализ картины «Полдень. В окрестностях Москвы»</vt:lpstr>
      <vt:lpstr>Презентация PowerPoint</vt:lpstr>
      <vt:lpstr>Заключение</vt:lpstr>
      <vt:lpstr>Список источников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Иван Иванович Шишкин</dc:title>
  <dc:creator>Moneka U</dc:creator>
  <cp:lastModifiedBy>Соня Сон</cp:lastModifiedBy>
  <cp:revision>32</cp:revision>
  <dcterms:modified xsi:type="dcterms:W3CDTF">2026-02-18T08:46:20Z</dcterms:modified>
</cp:coreProperties>
</file>